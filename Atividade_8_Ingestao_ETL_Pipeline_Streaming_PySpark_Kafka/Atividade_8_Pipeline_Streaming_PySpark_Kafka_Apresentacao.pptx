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7763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931920" y="0"/>
            <a:ext cx="3977639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863840" y="0"/>
            <a:ext cx="3977639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107899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06B6D4"/>
                </a:solidFill>
                <a:latin typeface="Aptos"/>
              </a:rPr>
              <a:t>Atividade 8</a:t>
            </a:r>
          </a:p>
          <a:p>
            <a:r>
              <a:rPr sz="3500" b="1">
                <a:solidFill>
                  <a:srgbClr val="FFFFFF"/>
                </a:solidFill>
                <a:latin typeface="Aptos"/>
              </a:rPr>
              <a:t>Pipeline Streaming com PySpark e Kafka</a:t>
            </a:r>
          </a:p>
          <a:p>
            <a:r>
              <a:rPr sz="1800">
                <a:solidFill>
                  <a:srgbClr val="CBD5E1"/>
                </a:solidFill>
                <a:latin typeface="Aptos"/>
              </a:rPr>
              <a:t>Ingestão • Streaming • Enriquecimento SQL • Persistência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ARQUIVOS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CSV / TSV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2724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06B6D4"/>
                </a:solidFill>
                <a:latin typeface="Aptos"/>
              </a:rPr>
              <a:t>PYTHON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Producer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2180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Aptos"/>
              </a:rPr>
              <a:t>KAFKA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Fila / tópico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1636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Aptos"/>
              </a:rPr>
              <a:t>PYSPARK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Structured Streaming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1092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DC2626"/>
                </a:solidFill>
                <a:latin typeface="Aptos"/>
              </a:rPr>
              <a:t>SQL + PARQUET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Enriquecer / gravar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43200" y="3566160"/>
            <a:ext cx="2743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37760" y="3566160"/>
            <a:ext cx="2743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132320" y="3566160"/>
            <a:ext cx="2743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26880" y="3566160"/>
            <a:ext cx="2743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5074920"/>
            <a:ext cx="4163769" cy="53860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1700" b="1" dirty="0">
                <a:solidFill>
                  <a:srgbClr val="FFFFFF"/>
                </a:solidFill>
                <a:latin typeface="Aptos"/>
              </a:rPr>
              <a:t>Grupo 6</a:t>
            </a:r>
            <a:endParaRPr sz="1700" b="1" dirty="0">
              <a:solidFill>
                <a:srgbClr val="FFFFFF"/>
              </a:solidFill>
              <a:latin typeface="Aptos"/>
            </a:endParaRPr>
          </a:p>
          <a:p>
            <a:r>
              <a:rPr sz="1200" dirty="0" err="1">
                <a:solidFill>
                  <a:srgbClr val="CBD5E1"/>
                </a:solidFill>
                <a:latin typeface="Aptos"/>
              </a:rPr>
              <a:t>Engenharia</a:t>
            </a:r>
            <a:r>
              <a:rPr sz="1200" dirty="0">
                <a:solidFill>
                  <a:srgbClr val="CBD5E1"/>
                </a:solidFill>
                <a:latin typeface="Aptos"/>
              </a:rPr>
              <a:t> de Dados + Big Data • Escola Politécnica da USP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1. Objetivo da atividade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CONTEXTO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5394960" cy="141732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097280"/>
            <a:ext cx="64008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216152"/>
            <a:ext cx="5074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Requisito central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Construir um pipeline de streaming local em Docker no qual o produtor lê arquivos do disco, o Kafka atua como camada de mensageria e o consumidor PySpark processa micro-batches.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432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Produtor: script Python responsável pela leitura dos arquivos anexados.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Mensageria: Apache Kafka disponibilizado localmente via Docker.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Consumidor: job PySpark usando Structured Streaming.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Enriquecimento: consulta ao PostgreSQL durante o processamento do micro-batch.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Saída: dados tratados e enriquecidos gravados no disco local em Parquet.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2. Arquitetura implementada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ARQUITETURA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Arquivos locais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CSV / TSV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3288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06B6D4"/>
                </a:solidFill>
                <a:latin typeface="Aptos"/>
              </a:rPr>
              <a:t>Python Producer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CSV → JSON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5312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Aptos"/>
              </a:rPr>
              <a:t>Apache Kafka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tópico
reclamacoes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336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Aptos"/>
              </a:rPr>
              <a:t>PySpark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Structured
Streaming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3607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DC2626"/>
                </a:solidFill>
                <a:latin typeface="Aptos"/>
              </a:rPr>
              <a:t>PostgreSQL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enriquecimento
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0412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1384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475569"/>
                </a:solidFill>
                <a:latin typeface="Aptos"/>
              </a:rPr>
              <a:t>Parquet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saída local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103120" y="2761488"/>
            <a:ext cx="274319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23360" y="2761488"/>
            <a:ext cx="2743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43600" y="2761488"/>
            <a:ext cx="2743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2761488"/>
            <a:ext cx="2743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784080" y="2761488"/>
            <a:ext cx="2743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4400" y="4069080"/>
            <a:ext cx="1024128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4400" y="4069080"/>
            <a:ext cx="64008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4187952"/>
            <a:ext cx="99212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Ponto técnico importante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 Kafka não processa a regra de negócio. Ele transporta e desacopla os eventos. O PySpark é responsável pelo processamento e o PostgreSQL fornece dados de referência para o enriquecimento.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3. Organização do projeto 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IMPLEMENTAÇÃO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51560"/>
            <a:ext cx="4983480" cy="4297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161288"/>
            <a:ext cx="4654296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100">
                <a:solidFill>
                  <a:srgbClr val="E2E8F0"/>
                </a:solidFill>
                <a:latin typeface="Consolas"/>
              </a:rPr>
              <a:t>Atividade_8_Ingestao_ETL_Pipeline_Streaming_PySpark_Kafka/
├── data/
├── producer/
│   ├── producer.py
│   └── requirements.txt
├── consumer/
│   └── consumer.py
├── db/
│   └── init_db.py
├── output/
├── checkpoint/
├── docker-compose.yml
└── README.md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234440"/>
            <a:ext cx="53949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Dados trimestrais de 2021 e 2022 utilizados como eventos de entrada.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EnquadramentoInicia_v2: dimensão para complementar as instituições.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Glassdoor consolidado: dimensão complementar de indicadores.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 pasta output recebe o resultado final em Parquet.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 pasta checkpoint mantém o estado do Structured Streaming.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4. Subida da infraestrutura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DOCKER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4846320" cy="34747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252728"/>
            <a:ext cx="4517136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400">
                <a:solidFill>
                  <a:srgbClr val="E2E8F0"/>
                </a:solidFill>
                <a:latin typeface="Consolas"/>
              </a:rPr>
              <a:t>docker compose up -d kafka postgres
docker compose run --rm kafka-init
docker compose run --rm db-init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88720"/>
            <a:ext cx="5212080" cy="868680"/>
          </a:xfrm>
          <a:prstGeom prst="roundRect">
            <a:avLst/>
          </a:prstGeom>
          <a:solidFill>
            <a:srgbClr val="FFFB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43600" y="1188720"/>
            <a:ext cx="64008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0" y="1307592"/>
            <a:ext cx="48920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Kafka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Broker local + tópico `reclamacoes` com 3 partições.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240280"/>
            <a:ext cx="5212080" cy="914400"/>
          </a:xfrm>
          <a:prstGeom prst="roundRect">
            <a:avLst/>
          </a:prstGeom>
          <a:solidFill>
            <a:srgbClr val="FEF2F2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0" y="2240280"/>
            <a:ext cx="64008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2359152"/>
            <a:ext cx="4892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PostgreSQL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Banco local usado como fonte de dados de referência para o enriquecimento.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337560"/>
            <a:ext cx="5212080" cy="11430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43600" y="3337560"/>
            <a:ext cx="64008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3456432"/>
            <a:ext cx="489204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Docker Compose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Orquestra os serviços e cria uma rede interna na qual o Spark pode acessar `kafka:9092` e `postgres:5432`.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5. Produtor Python → Kafka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INGESTÃO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4206240" cy="2560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252728"/>
            <a:ext cx="3877056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>
                <a:solidFill>
                  <a:srgbClr val="E2E8F0"/>
                </a:solidFill>
                <a:latin typeface="Consolas"/>
              </a:rPr>
              <a:t>producer.send(
    "reclamacoes",
    value=event
)
producer.flush()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18872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Percorre os CSVs disponíveis em /data.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Cada linha é transformada em um evento JSON.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Inclui metadados: event_id, arquivo, linha e timestamp.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Publica cada evento no tópico `reclamacoes`.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Ao final, realiza flush para garantir o envio.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343400"/>
            <a:ext cx="10241280" cy="8229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4343400"/>
            <a:ext cx="64008" cy="8229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462272"/>
            <a:ext cx="99212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Execução observada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 produtor finalizou com **952 mensagens enviadas**.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6. Evidência da execução do produtor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EVIDÊNCIA</a:t>
            </a:r>
          </a:p>
        </p:txBody>
      </p:sp>
      <p:pic>
        <p:nvPicPr>
          <p:cNvPr id="6" name="Picture 5" descr="2026-09-21 16_06_13-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10927080" cy="4846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7. Consumidor PySpark Structured 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PROCESSAMENTO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51560"/>
            <a:ext cx="5669280" cy="29260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161288"/>
            <a:ext cx="5340096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50">
                <a:solidFill>
                  <a:srgbClr val="E2E8F0"/>
                </a:solidFill>
                <a:latin typeface="Consolas"/>
              </a:rPr>
              <a:t>raw = (
    spark.readStream
      .format("kafka")
      .option("kafka.bootstrap.servers", "kafka:9092")
      .option("subscribe", "reclamacoes")
      .option("startingOffsets", "earliest")
      .load()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Spark lê continuamente o tópico Kafka.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 mensagem JSON é desserializada conforme um schema.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O processamento usa `foreachBatch`.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 janela é controlada por micro-batches de aproximadamente 10 segundos.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O checkpoint registra o estado do streaming.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297680"/>
            <a:ext cx="10378440" cy="86868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4297680"/>
            <a:ext cx="64008" cy="8686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4416552"/>
            <a:ext cx="1005840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Modelo de execução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Não é necessário esperar todo o arquivo terminar para processar. O consumidor trabalha continuamente com os eventos que chegam ao Kafka.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8. Processamento por micro-batch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EVIDÊNCIA</a:t>
            </a:r>
          </a:p>
        </p:txBody>
      </p:sp>
      <p:pic>
        <p:nvPicPr>
          <p:cNvPr id="6" name="Picture 5" descr="2026-09-21 16_06_01-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927080" cy="4526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" y="4983480"/>
            <a:ext cx="10378440" cy="5943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8680" y="4983480"/>
            <a:ext cx="64008" cy="594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5102352"/>
            <a:ext cx="10058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Resultado observado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 log apresenta `batch_id=9 registros=98` e `batch_id=10 registros=98`, demonstrando a execução incremental do consumidor.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9. Enriquecimento com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INTEGRAÇÃO 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228600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527048"/>
            <a:ext cx="2066544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Aptos"/>
              </a:rPr>
              <a:t>BATCH SPARK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CNPJ / nome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417320"/>
            <a:ext cx="228600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67328" y="1527048"/>
            <a:ext cx="2066544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DC2626"/>
                </a:solidFill>
                <a:latin typeface="Aptos"/>
              </a:rPr>
              <a:t>POSTGRESQL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dimensões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417320"/>
            <a:ext cx="228600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93408" y="1527048"/>
            <a:ext cx="2066544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JOIN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atributos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1417320"/>
            <a:ext cx="182880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19488" y="1527048"/>
            <a:ext cx="1609344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475569"/>
                </a:solidFill>
                <a:latin typeface="Aptos"/>
              </a:rPr>
              <a:t>PARQUET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resultado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17520" y="2011680"/>
            <a:ext cx="502919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943600" y="2011680"/>
            <a:ext cx="5029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869680" y="2011680"/>
            <a:ext cx="5029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15468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CNPJ é normalizado para facilitar a correspondência.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Tabela `institution_enrichment`: segmento e nome da instituição.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Tabela `glassdoor_enrichment`: indicadores complementares.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O resultado é associado ao micro-batch recebido pelo Spark.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Também é calculada a taxa de reclamações por 100 mil clientes.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10. Persistência do resultado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SAÍDA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4663440" cy="1828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252728"/>
            <a:ext cx="4334256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>
                <a:solidFill>
                  <a:srgbClr val="E2E8F0"/>
                </a:solidFill>
                <a:latin typeface="Consolas"/>
              </a:rPr>
              <a:t>enriched.write
    .mode("append")
    .parquet(OUTPUT)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234440"/>
            <a:ext cx="5303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Formato: Parquet.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Diretório: `output/`.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Modo: append, preservando os micro-batches processados.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Resultado pronto para consulta analítica posterior.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A persistência separa o processamento do consumo analítico.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160520"/>
            <a:ext cx="1024128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64008" cy="9144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279392"/>
            <a:ext cx="9921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Campos enriquecidos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segmento • nome_enquadramento • indicadores Glassdoor • taxa_reclamacoes_por_100k_clientes • batch_id • processed_ts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11. Evidência do Kafka e do resultado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EVIDÊNCIA</a:t>
            </a:r>
          </a:p>
        </p:txBody>
      </p:sp>
      <p:pic>
        <p:nvPicPr>
          <p:cNvPr id="6" name="Picture 5" descr="2026-09-21 15_42_29-Administrador_ Windows PowerSh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92708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12. Conceitos acadêmicos demonstrados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FUNDAMENTAÇÃO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143000"/>
            <a:ext cx="64008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26187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Desacoplamento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Kafka permite que produtor e consumidor evoluam e operem de forma independente.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14300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69080" y="1143000"/>
            <a:ext cx="64008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51960" y="126187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Streaming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Structured Streaming processa eventos continuamente por micro-batches.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14300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1143000"/>
            <a:ext cx="64008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59" y="126187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Mensageria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 tópico funciona como canal persistente de eventos entre sistemas.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6324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063240"/>
            <a:ext cx="64008" cy="14173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18211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Enriquecimento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Dados de eventos são combinados com dados de referência via SQL.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69080" y="306324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069080" y="3063240"/>
            <a:ext cx="64008" cy="1417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51960" y="318211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Idempotência / estado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Checkpoint e identificadores de evento ajudam a controlar o processamento.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306324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98079" y="3063240"/>
            <a:ext cx="64008" cy="141732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59" y="318211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Formato analítico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Parquet organiza a saída para consumo posterior e análise.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13. Validação e evidências para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430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Infraestrutura Docker ativa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Tópico Kafka `reclamacoes` criado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952 mensagens publicadas pelo produtor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PySpark conectado ao Kafka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Micro-batches processados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PostgreSQL carregado com dimensões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Dados enriquecidos gravados em Parquet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Capturas de tela preservadas como evidência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234440"/>
            <a:ext cx="457200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92240" y="1234440"/>
            <a:ext cx="64008" cy="1828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0" y="1353312"/>
            <a:ext cx="425196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Evidência quantitativa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Produtor: 952 mensagens
Consumidor: micro-batches observados no log
Saída: arquivos Parquet no diretório output/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14. 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ENCERRAMENTO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234440"/>
            <a:ext cx="10515600" cy="141732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234440"/>
            <a:ext cx="64008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353312"/>
            <a:ext cx="1019556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O que foi entregue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Um pipeline de ingestão e processamento streaming totalmente local, reproduzível em Docker, com Kafka como mensageria, PySpark como motor de processamento, PostgreSQL para enriquecimento e Parquet como saída.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9966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produtor converteu os registros dos arquivos em eventos Kafka.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consumidor recebeu os eventos em micro-batches.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PostgreSQL forneceu informações complementares.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Spark gerou dados tratados e enriquecidos.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resultado foi persistido localmente em formato analítico.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1258</Words>
  <Application>Microsoft Office PowerPoint</Application>
  <PresentationFormat>Widescreen</PresentationFormat>
  <Paragraphs>173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Edvaldo da Cruz Junior</cp:lastModifiedBy>
  <cp:revision>2</cp:revision>
  <dcterms:created xsi:type="dcterms:W3CDTF">2013-01-27T09:14:16Z</dcterms:created>
  <dcterms:modified xsi:type="dcterms:W3CDTF">2026-09-21T19:50:22Z</dcterms:modified>
  <cp:category/>
</cp:coreProperties>
</file>