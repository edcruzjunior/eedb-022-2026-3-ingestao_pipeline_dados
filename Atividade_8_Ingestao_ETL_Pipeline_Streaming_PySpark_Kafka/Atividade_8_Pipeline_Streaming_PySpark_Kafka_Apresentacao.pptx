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1" r:id="rId16"/>
    <p:sldId id="272" r:id="rId17"/>
    <p:sldId id="270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512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EdCruzJunior/eEDB-022-2026-3-Ingestao_Pipeline_Dados/tree/main/Atividade_8_Ingestao_ETL_Pipeline_Streaming_PySpark_Kafka" TargetMode="Externa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977639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931920" y="0"/>
            <a:ext cx="3977639" cy="10972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863840" y="0"/>
            <a:ext cx="3977639" cy="10972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005840"/>
            <a:ext cx="1078992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06B6D4"/>
                </a:solidFill>
                <a:latin typeface="Aptos"/>
              </a:rPr>
              <a:t>Atividade 8</a:t>
            </a:r>
          </a:p>
          <a:p>
            <a:r>
              <a:rPr sz="3500" b="1">
                <a:solidFill>
                  <a:srgbClr val="FFFFFF"/>
                </a:solidFill>
                <a:latin typeface="Aptos"/>
              </a:rPr>
              <a:t>Pipeline Streaming com PySpark e Kafka</a:t>
            </a:r>
          </a:p>
          <a:p>
            <a:r>
              <a:rPr sz="1800">
                <a:solidFill>
                  <a:srgbClr val="CBD5E1"/>
                </a:solidFill>
                <a:latin typeface="Aptos"/>
              </a:rPr>
              <a:t>Ingestão • Streaming • Enriquecimento SQL • Persistência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063240"/>
            <a:ext cx="1920240" cy="1005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32688" y="3172968"/>
            <a:ext cx="1700784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2563EB"/>
                </a:solidFill>
                <a:latin typeface="Aptos"/>
              </a:rPr>
              <a:t>ARQUIVOS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Aptos"/>
              </a:rPr>
              <a:t>CSV / TSV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17520" y="3063240"/>
            <a:ext cx="1920240" cy="1005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127248" y="3172968"/>
            <a:ext cx="1700784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06B6D4"/>
                </a:solidFill>
                <a:latin typeface="Aptos"/>
              </a:rPr>
              <a:t>PYTHON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Aptos"/>
              </a:rPr>
              <a:t>Producer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12080" y="3063240"/>
            <a:ext cx="1920240" cy="1005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321808" y="3172968"/>
            <a:ext cx="1700784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F59E0B"/>
                </a:solidFill>
                <a:latin typeface="Aptos"/>
              </a:rPr>
              <a:t>KAFKA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Aptos"/>
              </a:rPr>
              <a:t>Fila / tópico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06640" y="3063240"/>
            <a:ext cx="1920240" cy="1005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516368" y="3172968"/>
            <a:ext cx="1700784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16A34A"/>
                </a:solidFill>
                <a:latin typeface="Aptos"/>
              </a:rPr>
              <a:t>PYSPARK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Aptos"/>
              </a:rPr>
              <a:t>Structured Streaming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01200" y="3063240"/>
            <a:ext cx="1920240" cy="1005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710928" y="3172968"/>
            <a:ext cx="1700784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DC2626"/>
                </a:solidFill>
                <a:latin typeface="Aptos"/>
              </a:rPr>
              <a:t>SQL + PARQUET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Aptos"/>
              </a:rPr>
              <a:t>Enriquecer / gravar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743200" y="3566160"/>
            <a:ext cx="274320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937760" y="3566160"/>
            <a:ext cx="274320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132320" y="3566160"/>
            <a:ext cx="274320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326880" y="3566160"/>
            <a:ext cx="274320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1520" y="5074921"/>
            <a:ext cx="10378440" cy="723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700" b="1" dirty="0">
                <a:solidFill>
                  <a:srgbClr val="FFFFFF"/>
                </a:solidFill>
                <a:latin typeface="Aptos"/>
              </a:rPr>
              <a:t>Grupo 6</a:t>
            </a:r>
            <a:endParaRPr sz="1700" b="1" dirty="0">
              <a:solidFill>
                <a:srgbClr val="FFFFFF"/>
              </a:solidFill>
              <a:latin typeface="Aptos"/>
            </a:endParaRPr>
          </a:p>
          <a:p>
            <a:r>
              <a:rPr sz="1200" dirty="0" err="1">
                <a:solidFill>
                  <a:srgbClr val="CBD5E1"/>
                </a:solidFill>
                <a:latin typeface="Aptos"/>
              </a:rPr>
              <a:t>Engenharia</a:t>
            </a:r>
            <a:r>
              <a:rPr sz="1200" dirty="0">
                <a:solidFill>
                  <a:srgbClr val="CBD5E1"/>
                </a:solidFill>
                <a:latin typeface="Aptos"/>
              </a:rPr>
              <a:t> de Dados + Big Data • Escola Politécnica da USP</a:t>
            </a:r>
            <a:br>
              <a:rPr lang="pt-BR" sz="1200" dirty="0">
                <a:solidFill>
                  <a:srgbClr val="CBD5E1"/>
                </a:solidFill>
                <a:latin typeface="Aptos"/>
              </a:rPr>
            </a:br>
            <a:r>
              <a:rPr lang="pt-BR" sz="1200" dirty="0">
                <a:solidFill>
                  <a:schemeClr val="bg1"/>
                </a:solidFill>
                <a:latin typeface="Apto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https://github.com/EdCruzJunior/eEDB-022-2026-3-Ingestao_Pipeline_Dados/tree/main/Atividade_8_Ingestao_ETL_Pipeline_Streaming_PySpark_Kafka</a:t>
            </a:r>
            <a:endParaRPr sz="1200" dirty="0">
              <a:solidFill>
                <a:schemeClr val="bg1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F172A"/>
                </a:solidFill>
                <a:latin typeface="Aptos"/>
              </a:rPr>
              <a:t>1. Objetivo da atividade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347472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2563EB"/>
                </a:solidFill>
                <a:latin typeface="Aptos"/>
              </a:rPr>
              <a:t>CONTEXTO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5394960" cy="1417320"/>
          </a:xfrm>
          <a:prstGeom prst="round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097280"/>
            <a:ext cx="64008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1216152"/>
            <a:ext cx="5074920" cy="1216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ptos"/>
              </a:rPr>
              <a:t>Requisito central</a:t>
            </a:r>
          </a:p>
          <a:p>
            <a:r>
              <a:rPr sz="1150">
                <a:solidFill>
                  <a:srgbClr val="475569"/>
                </a:solidFill>
                <a:latin typeface="Aptos"/>
              </a:rPr>
              <a:t>Construir um pipeline de streaming local em Docker no qual o produtor lê arquivos do disco, o Kafka atua como camada de mensageria e o consumidor PySpark processa micro-batches.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43200"/>
            <a:ext cx="10698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• Produtor: script Python responsável pela leitura dos arquivos anexados.</a:t>
            </a:r>
          </a:p>
          <a:p>
            <a:pPr>
              <a:spcAft>
                <a:spcPts val="7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• Mensageria: Apache Kafka disponibilizado localmente via Docker.</a:t>
            </a:r>
          </a:p>
          <a:p>
            <a:pPr>
              <a:spcAft>
                <a:spcPts val="7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• Consumidor: job PySpark usando Structured Streaming.</a:t>
            </a:r>
          </a:p>
          <a:p>
            <a:pPr>
              <a:spcAft>
                <a:spcPts val="7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• Enriquecimento: consulta ao PostgreSQL durante o processamento do micro-batch.</a:t>
            </a:r>
          </a:p>
          <a:p>
            <a:pPr>
              <a:spcAft>
                <a:spcPts val="7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• Saída: dados tratados e enriquecidos gravados no disco local em Parquet.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6473952"/>
            <a:ext cx="109728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6510528"/>
            <a:ext cx="9784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4748B"/>
                </a:solidFill>
                <a:latin typeface="Aptos"/>
              </a:rPr>
              <a:t>Engenharia de Dados + Big Data • eEDB-022/2026-3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492240"/>
            <a:ext cx="777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75569"/>
                </a:solidFill>
                <a:latin typeface="Apto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F172A"/>
                </a:solidFill>
                <a:latin typeface="Aptos"/>
              </a:rPr>
              <a:t>2. Arquitetura implementada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347472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2563EB"/>
                </a:solidFill>
                <a:latin typeface="Aptos"/>
              </a:rPr>
              <a:t>ARQUITETURA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48840"/>
            <a:ext cx="1600200" cy="12344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12648" y="2258568"/>
            <a:ext cx="1380744" cy="10515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2563EB"/>
                </a:solidFill>
                <a:latin typeface="Aptos"/>
              </a:rPr>
              <a:t>Arquivos locais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Aptos"/>
              </a:rPr>
              <a:t>CSV / TSV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23160" y="2148840"/>
            <a:ext cx="1600200" cy="12344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532888" y="2258568"/>
            <a:ext cx="1380744" cy="10515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06B6D4"/>
                </a:solidFill>
                <a:latin typeface="Aptos"/>
              </a:rPr>
              <a:t>Python Producer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Aptos"/>
              </a:rPr>
              <a:t>CSV → JSON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148840"/>
            <a:ext cx="1600200" cy="12344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53128" y="2258568"/>
            <a:ext cx="1380744" cy="10515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F59E0B"/>
                </a:solidFill>
                <a:latin typeface="Aptos"/>
              </a:rPr>
              <a:t>Apache Kafka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Aptos"/>
              </a:rPr>
              <a:t>tópico
reclamacoes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2148840"/>
            <a:ext cx="1600200" cy="12344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73368" y="2258568"/>
            <a:ext cx="1380744" cy="10515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16A34A"/>
                </a:solidFill>
                <a:latin typeface="Aptos"/>
              </a:rPr>
              <a:t>PySpark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Aptos"/>
              </a:rPr>
              <a:t>Structured
Streaming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2148840"/>
            <a:ext cx="1600200" cy="12344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93607" y="2258568"/>
            <a:ext cx="1380744" cy="10515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DC2626"/>
                </a:solidFill>
                <a:latin typeface="Aptos"/>
              </a:rPr>
              <a:t>PostgreSQL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Aptos"/>
              </a:rPr>
              <a:t>enriquecimento
SQL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04120" y="2148840"/>
            <a:ext cx="1600200" cy="12344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213848" y="2258568"/>
            <a:ext cx="1380744" cy="10515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475569"/>
                </a:solidFill>
                <a:latin typeface="Aptos"/>
              </a:rPr>
              <a:t>Parquet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Aptos"/>
              </a:rPr>
              <a:t>saída local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103120" y="2761488"/>
            <a:ext cx="274319" cy="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023360" y="2761488"/>
            <a:ext cx="274320" cy="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943600" y="2761488"/>
            <a:ext cx="274320" cy="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863840" y="2761488"/>
            <a:ext cx="274320" cy="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784080" y="2761488"/>
            <a:ext cx="274320" cy="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14400" y="4069080"/>
            <a:ext cx="10241280" cy="10972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14400" y="4069080"/>
            <a:ext cx="64008" cy="10972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97280" y="4187952"/>
            <a:ext cx="992124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ptos"/>
              </a:rPr>
              <a:t>Ponto técnico importante</a:t>
            </a:r>
          </a:p>
          <a:p>
            <a:r>
              <a:rPr sz="1150">
                <a:solidFill>
                  <a:srgbClr val="475569"/>
                </a:solidFill>
                <a:latin typeface="Aptos"/>
              </a:rPr>
              <a:t>O Kafka não processa a regra de negócio. Ele transporta e desacopla os eventos. O PySpark é responsável pelo processamento e o PostgreSQL fornece dados de referência para o enriquecimento.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6473952"/>
            <a:ext cx="109728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94360" y="6510528"/>
            <a:ext cx="9784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4748B"/>
                </a:solidFill>
                <a:latin typeface="Aptos"/>
              </a:rPr>
              <a:t>Engenharia de Dados + Big Data • eEDB-022/2026-3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0" y="6492240"/>
            <a:ext cx="777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75569"/>
                </a:solidFill>
                <a:latin typeface="Apto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F172A"/>
                </a:solidFill>
                <a:latin typeface="Aptos"/>
              </a:rPr>
              <a:t>3. Organização do projeto 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347472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2563EB"/>
                </a:solidFill>
                <a:latin typeface="Aptos"/>
              </a:rPr>
              <a:t>IMPLEMENTAÇÃO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51560"/>
            <a:ext cx="4983480" cy="429768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4672" y="1161288"/>
            <a:ext cx="4654296" cy="4114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100">
                <a:solidFill>
                  <a:srgbClr val="E2E8F0"/>
                </a:solidFill>
                <a:latin typeface="Consolas"/>
              </a:rPr>
              <a:t>Atividade_8_Ingestao_ETL_Pipeline_Streaming_PySpark_Kafka/
├── data/
├── producer/
│   ├── producer.py
│   └── requirements.txt
├── consumer/
│   └── consumer.py
├── db/
│   └── init_db.py
├── output/
├── checkpoint/
├── docker-compose.yml
└── README.md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1234440"/>
            <a:ext cx="53949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E293B"/>
                </a:solidFill>
                <a:latin typeface="Aptos"/>
              </a:defRPr>
            </a:pPr>
            <a:r>
              <a:t>• Dados trimestrais de 2021 e 2022 utilizados como eventos de entrada.</a:t>
            </a:r>
          </a:p>
          <a:p>
            <a:pPr>
              <a:spcAft>
                <a:spcPts val="700"/>
              </a:spcAft>
              <a:defRPr sz="1500">
                <a:solidFill>
                  <a:srgbClr val="1E293B"/>
                </a:solidFill>
                <a:latin typeface="Aptos"/>
              </a:defRPr>
            </a:pPr>
            <a:r>
              <a:t>• EnquadramentoInicia_v2: dimensão para complementar as instituições.</a:t>
            </a:r>
          </a:p>
          <a:p>
            <a:pPr>
              <a:spcAft>
                <a:spcPts val="700"/>
              </a:spcAft>
              <a:defRPr sz="1500">
                <a:solidFill>
                  <a:srgbClr val="1E293B"/>
                </a:solidFill>
                <a:latin typeface="Aptos"/>
              </a:defRPr>
            </a:pPr>
            <a:r>
              <a:t>• Glassdoor consolidado: dimensão complementar de indicadores.</a:t>
            </a:r>
          </a:p>
          <a:p>
            <a:pPr>
              <a:spcAft>
                <a:spcPts val="700"/>
              </a:spcAft>
              <a:defRPr sz="1500">
                <a:solidFill>
                  <a:srgbClr val="1E293B"/>
                </a:solidFill>
                <a:latin typeface="Aptos"/>
              </a:defRPr>
            </a:pPr>
            <a:r>
              <a:t>• A pasta output recebe o resultado final em Parquet.</a:t>
            </a:r>
          </a:p>
          <a:p>
            <a:pPr>
              <a:spcAft>
                <a:spcPts val="700"/>
              </a:spcAft>
              <a:defRPr sz="1500">
                <a:solidFill>
                  <a:srgbClr val="1E293B"/>
                </a:solidFill>
                <a:latin typeface="Aptos"/>
              </a:defRPr>
            </a:pPr>
            <a:r>
              <a:t>• A pasta checkpoint mantém o estado do Structured Streaming.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6473952"/>
            <a:ext cx="109728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6510528"/>
            <a:ext cx="9784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4748B"/>
                </a:solidFill>
                <a:latin typeface="Aptos"/>
              </a:rPr>
              <a:t>Engenharia de Dados + Big Data • eEDB-022/2026-3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777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75569"/>
                </a:solidFill>
                <a:latin typeface="Apto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F172A"/>
                </a:solidFill>
                <a:latin typeface="Aptos"/>
              </a:rPr>
              <a:t>4. Subida da infraestrutura Docker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347472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2563EB"/>
                </a:solidFill>
                <a:latin typeface="Aptos"/>
              </a:rPr>
              <a:t>DOCKER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143000"/>
            <a:ext cx="4846320" cy="34747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1252728"/>
            <a:ext cx="4517136" cy="32918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400">
                <a:solidFill>
                  <a:srgbClr val="E2E8F0"/>
                </a:solidFill>
                <a:latin typeface="Consolas"/>
              </a:rPr>
              <a:t>docker compose up -d kafka postgres
docker compose run --rm kafka-init
docker compose run --rm db-init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1188720"/>
            <a:ext cx="5212080" cy="868680"/>
          </a:xfrm>
          <a:prstGeom prst="roundRect">
            <a:avLst/>
          </a:prstGeom>
          <a:solidFill>
            <a:srgbClr val="FFFBEB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943600" y="1188720"/>
            <a:ext cx="64008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126480" y="1307592"/>
            <a:ext cx="48920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ptos"/>
              </a:rPr>
              <a:t>Kafka</a:t>
            </a:r>
          </a:p>
          <a:p>
            <a:r>
              <a:rPr sz="1150">
                <a:solidFill>
                  <a:srgbClr val="475569"/>
                </a:solidFill>
                <a:latin typeface="Aptos"/>
              </a:rPr>
              <a:t>Broker local + tópico `reclamacoes` com 3 partições.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2240280"/>
            <a:ext cx="5212080" cy="914400"/>
          </a:xfrm>
          <a:prstGeom prst="roundRect">
            <a:avLst/>
          </a:prstGeom>
          <a:solidFill>
            <a:srgbClr val="FEF2F2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943600" y="2240280"/>
            <a:ext cx="64008" cy="9144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26480" y="2359152"/>
            <a:ext cx="48920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ptos"/>
              </a:rPr>
              <a:t>PostgreSQL</a:t>
            </a:r>
          </a:p>
          <a:p>
            <a:r>
              <a:rPr sz="1150">
                <a:solidFill>
                  <a:srgbClr val="475569"/>
                </a:solidFill>
                <a:latin typeface="Aptos"/>
              </a:rPr>
              <a:t>Banco local usado como fonte de dados de referência para o enriquecimento.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0" y="3337560"/>
            <a:ext cx="5212080" cy="1143000"/>
          </a:xfrm>
          <a:prstGeom prst="round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943600" y="3337560"/>
            <a:ext cx="64008" cy="1143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80" y="3456432"/>
            <a:ext cx="489204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ptos"/>
              </a:rPr>
              <a:t>Docker Compose</a:t>
            </a:r>
          </a:p>
          <a:p>
            <a:r>
              <a:rPr sz="1150">
                <a:solidFill>
                  <a:srgbClr val="475569"/>
                </a:solidFill>
                <a:latin typeface="Aptos"/>
              </a:rPr>
              <a:t>Orquestra os serviços e cria uma rede interna na qual o Spark pode acessar `kafka:9092` e `postgres:5432`.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6473952"/>
            <a:ext cx="109728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94360" y="6510528"/>
            <a:ext cx="9784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4748B"/>
                </a:solidFill>
                <a:latin typeface="Aptos"/>
              </a:rPr>
              <a:t>Engenharia de Dados + Big Data • eEDB-022/2026-3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0" y="6492240"/>
            <a:ext cx="777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75569"/>
                </a:solidFill>
                <a:latin typeface="Apto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F172A"/>
                </a:solidFill>
                <a:latin typeface="Aptos"/>
              </a:rPr>
              <a:t>5. Produtor Python → Kafka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347472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2563EB"/>
                </a:solidFill>
                <a:latin typeface="Aptos"/>
              </a:rPr>
              <a:t>INGESTÃO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143000"/>
            <a:ext cx="4206240" cy="25603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1252728"/>
            <a:ext cx="3877056" cy="23774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500">
                <a:solidFill>
                  <a:srgbClr val="E2E8F0"/>
                </a:solidFill>
                <a:latin typeface="Consolas"/>
              </a:rPr>
              <a:t>producer.send(
    "reclamacoes",
    value=event
)
producer.flush()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1188720"/>
            <a:ext cx="5943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E293B"/>
                </a:solidFill>
                <a:latin typeface="Aptos"/>
              </a:defRPr>
            </a:pPr>
            <a:r>
              <a:t>• Percorre os CSVs disponíveis em /data.</a:t>
            </a:r>
          </a:p>
          <a:p>
            <a:pPr>
              <a:spcAft>
                <a:spcPts val="700"/>
              </a:spcAft>
              <a:defRPr sz="1500">
                <a:solidFill>
                  <a:srgbClr val="1E293B"/>
                </a:solidFill>
                <a:latin typeface="Aptos"/>
              </a:defRPr>
            </a:pPr>
            <a:r>
              <a:t>• Cada linha é transformada em um evento JSON.</a:t>
            </a:r>
          </a:p>
          <a:p>
            <a:pPr>
              <a:spcAft>
                <a:spcPts val="700"/>
              </a:spcAft>
              <a:defRPr sz="1500">
                <a:solidFill>
                  <a:srgbClr val="1E293B"/>
                </a:solidFill>
                <a:latin typeface="Aptos"/>
              </a:defRPr>
            </a:pPr>
            <a:r>
              <a:t>• Inclui metadados: event_id, arquivo, linha e timestamp.</a:t>
            </a:r>
          </a:p>
          <a:p>
            <a:pPr>
              <a:spcAft>
                <a:spcPts val="700"/>
              </a:spcAft>
              <a:defRPr sz="1500">
                <a:solidFill>
                  <a:srgbClr val="1E293B"/>
                </a:solidFill>
                <a:latin typeface="Aptos"/>
              </a:defRPr>
            </a:pPr>
            <a:r>
              <a:t>• Publica cada evento no tópico `reclamacoes`.</a:t>
            </a:r>
          </a:p>
          <a:p>
            <a:pPr>
              <a:spcAft>
                <a:spcPts val="700"/>
              </a:spcAft>
              <a:defRPr sz="1500">
                <a:solidFill>
                  <a:srgbClr val="1E293B"/>
                </a:solidFill>
                <a:latin typeface="Aptos"/>
              </a:defRPr>
            </a:pPr>
            <a:r>
              <a:t>• Ao final, realiza flush para garantir o envio.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4343400"/>
            <a:ext cx="10241280" cy="822960"/>
          </a:xfrm>
          <a:prstGeom prst="roundRect">
            <a:avLst/>
          </a:prstGeom>
          <a:solidFill>
            <a:srgbClr val="F0FDF4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914400" y="4343400"/>
            <a:ext cx="64008" cy="8229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97280" y="4462272"/>
            <a:ext cx="99212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ptos"/>
              </a:rPr>
              <a:t>Execução observada</a:t>
            </a:r>
          </a:p>
          <a:p>
            <a:r>
              <a:rPr sz="1150">
                <a:solidFill>
                  <a:srgbClr val="475569"/>
                </a:solidFill>
                <a:latin typeface="Aptos"/>
              </a:rPr>
              <a:t>O produtor finalizou com **952 mensagens enviadas**.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6473952"/>
            <a:ext cx="109728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6510528"/>
            <a:ext cx="9784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4748B"/>
                </a:solidFill>
                <a:latin typeface="Aptos"/>
              </a:rPr>
              <a:t>Engenharia de Dados + Big Data • eEDB-022/2026-3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92240"/>
            <a:ext cx="777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75569"/>
                </a:solidFill>
                <a:latin typeface="Apto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F172A"/>
                </a:solidFill>
                <a:latin typeface="Aptos"/>
              </a:rPr>
              <a:t>6. Evidência da execução do produtor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347472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2563EB"/>
                </a:solidFill>
                <a:latin typeface="Aptos"/>
              </a:rPr>
              <a:t>EVIDÊNCIA</a:t>
            </a:r>
          </a:p>
        </p:txBody>
      </p:sp>
      <p:pic>
        <p:nvPicPr>
          <p:cNvPr id="6" name="Picture 5" descr="2026-09-21 16_06_13-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51560"/>
            <a:ext cx="10927080" cy="4846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94360" y="6473952"/>
            <a:ext cx="109728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6510528"/>
            <a:ext cx="9784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4748B"/>
                </a:solidFill>
                <a:latin typeface="Aptos"/>
              </a:rPr>
              <a:t>Engenharia de Dados + Big Data • eEDB-022/2026-3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92240"/>
            <a:ext cx="777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75569"/>
                </a:solidFill>
                <a:latin typeface="Apto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F172A"/>
                </a:solidFill>
                <a:latin typeface="Aptos"/>
              </a:rPr>
              <a:t>7. Consumidor PySpark Structured Streaming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347472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2563EB"/>
                </a:solidFill>
                <a:latin typeface="Aptos"/>
              </a:rPr>
              <a:t>PROCESSAMENTO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051560"/>
            <a:ext cx="5669280" cy="292608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4672" y="1161288"/>
            <a:ext cx="5340096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050">
                <a:solidFill>
                  <a:srgbClr val="E2E8F0"/>
                </a:solidFill>
                <a:latin typeface="Consolas"/>
              </a:rPr>
              <a:t>raw = (
    spark.readStream
      .format("kafka")
      .option("kafka.bootstrap.servers", "kafka:9092")
      .option("subscribe", "reclamacoes")
      .option("startingOffsets", "earliest")
      .load()
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234440"/>
            <a:ext cx="4937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E293B"/>
                </a:solidFill>
                <a:latin typeface="Aptos"/>
              </a:defRPr>
            </a:pPr>
            <a:r>
              <a:t>• Spark lê continuamente o tópico Kafka.</a:t>
            </a:r>
          </a:p>
          <a:p>
            <a:pPr>
              <a:spcAft>
                <a:spcPts val="700"/>
              </a:spcAft>
              <a:defRPr sz="1500">
                <a:solidFill>
                  <a:srgbClr val="1E293B"/>
                </a:solidFill>
                <a:latin typeface="Aptos"/>
              </a:defRPr>
            </a:pPr>
            <a:r>
              <a:t>• A mensagem JSON é desserializada conforme um schema.</a:t>
            </a:r>
          </a:p>
          <a:p>
            <a:pPr>
              <a:spcAft>
                <a:spcPts val="700"/>
              </a:spcAft>
              <a:defRPr sz="1500">
                <a:solidFill>
                  <a:srgbClr val="1E293B"/>
                </a:solidFill>
                <a:latin typeface="Aptos"/>
              </a:defRPr>
            </a:pPr>
            <a:r>
              <a:t>• O processamento usa `foreachBatch`.</a:t>
            </a:r>
          </a:p>
          <a:p>
            <a:pPr>
              <a:spcAft>
                <a:spcPts val="700"/>
              </a:spcAft>
              <a:defRPr sz="1500">
                <a:solidFill>
                  <a:srgbClr val="1E293B"/>
                </a:solidFill>
                <a:latin typeface="Aptos"/>
              </a:defRPr>
            </a:pPr>
            <a:r>
              <a:t>• A janela é controlada por micro-batches de aproximadamente 10 segundos.</a:t>
            </a:r>
          </a:p>
          <a:p>
            <a:pPr>
              <a:spcAft>
                <a:spcPts val="700"/>
              </a:spcAft>
              <a:defRPr sz="1500">
                <a:solidFill>
                  <a:srgbClr val="1E293B"/>
                </a:solidFill>
                <a:latin typeface="Aptos"/>
              </a:defRPr>
            </a:pPr>
            <a:r>
              <a:t>• O checkpoint registra o estado do streaming.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4297680"/>
            <a:ext cx="10378440" cy="868680"/>
          </a:xfrm>
          <a:prstGeom prst="round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4297680"/>
            <a:ext cx="64008" cy="86868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1560" y="4416552"/>
            <a:ext cx="1005840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ptos"/>
              </a:rPr>
              <a:t>Modelo de execução</a:t>
            </a:r>
          </a:p>
          <a:p>
            <a:r>
              <a:rPr sz="1150">
                <a:solidFill>
                  <a:srgbClr val="475569"/>
                </a:solidFill>
                <a:latin typeface="Aptos"/>
              </a:rPr>
              <a:t>Não é necessário esperar todo o arquivo terminar para processar. O consumidor trabalha continuamente com os eventos que chegam ao Kafka.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6473952"/>
            <a:ext cx="109728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6510528"/>
            <a:ext cx="9784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4748B"/>
                </a:solidFill>
                <a:latin typeface="Aptos"/>
              </a:rPr>
              <a:t>Engenharia de Dados + Big Data • eEDB-022/2026-3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92240"/>
            <a:ext cx="777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75569"/>
                </a:solidFill>
                <a:latin typeface="Apto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F172A"/>
                </a:solidFill>
                <a:latin typeface="Aptos"/>
              </a:rPr>
              <a:t>8. Processamento por micro-batch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347472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2563EB"/>
                </a:solidFill>
                <a:latin typeface="Aptos"/>
              </a:rPr>
              <a:t>EVIDÊNCIA</a:t>
            </a:r>
          </a:p>
        </p:txBody>
      </p:sp>
      <p:pic>
        <p:nvPicPr>
          <p:cNvPr id="6" name="Picture 5" descr="2026-09-21 16_06_01-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960120"/>
            <a:ext cx="10927080" cy="45262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68680" y="4983480"/>
            <a:ext cx="10378440" cy="594360"/>
          </a:xfrm>
          <a:prstGeom prst="roundRect">
            <a:avLst/>
          </a:prstGeom>
          <a:solidFill>
            <a:srgbClr val="F0FDF4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68680" y="4983480"/>
            <a:ext cx="64008" cy="5943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5102352"/>
            <a:ext cx="100584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ptos"/>
              </a:rPr>
              <a:t>Resultado observado</a:t>
            </a:r>
          </a:p>
          <a:p>
            <a:r>
              <a:rPr sz="1150">
                <a:solidFill>
                  <a:srgbClr val="475569"/>
                </a:solidFill>
                <a:latin typeface="Aptos"/>
              </a:rPr>
              <a:t>O log apresenta `batch_id=9 registros=98` e `batch_id=10 registros=98`, demonstrando a execução incremental do consumidor.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6473952"/>
            <a:ext cx="109728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6510528"/>
            <a:ext cx="9784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4748B"/>
                </a:solidFill>
                <a:latin typeface="Aptos"/>
              </a:rPr>
              <a:t>Engenharia de Dados + Big Data • eEDB-022/2026-3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492240"/>
            <a:ext cx="777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75569"/>
                </a:solidFill>
                <a:latin typeface="Apto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F172A"/>
                </a:solidFill>
                <a:latin typeface="Aptos"/>
              </a:rPr>
              <a:t>9. Enriquecimento com PostgreSQL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347472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2563EB"/>
                </a:solidFill>
                <a:latin typeface="Aptos"/>
              </a:rPr>
              <a:t>INTEGRAÇÃO SQL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2286000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527048"/>
            <a:ext cx="2066544" cy="10058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16A34A"/>
                </a:solidFill>
                <a:latin typeface="Aptos"/>
              </a:rPr>
              <a:t>BATCH SPARK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Aptos"/>
              </a:rPr>
              <a:t>CNPJ / nome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0" y="1417320"/>
            <a:ext cx="2286000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767328" y="1527048"/>
            <a:ext cx="2066544" cy="10058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DC2626"/>
                </a:solidFill>
                <a:latin typeface="Aptos"/>
              </a:rPr>
              <a:t>POSTGRESQL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Aptos"/>
              </a:rPr>
              <a:t>dimensões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1417320"/>
            <a:ext cx="2286000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93408" y="1527048"/>
            <a:ext cx="2066544" cy="10058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2563EB"/>
                </a:solidFill>
                <a:latin typeface="Aptos"/>
              </a:rPr>
              <a:t>JOIN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Aptos"/>
              </a:rPr>
              <a:t>atributos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09760" y="1417320"/>
            <a:ext cx="1828800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19488" y="1527048"/>
            <a:ext cx="1609344" cy="10058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475569"/>
                </a:solidFill>
                <a:latin typeface="Aptos"/>
              </a:rPr>
              <a:t>PARQUET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Aptos"/>
              </a:rPr>
              <a:t>resultado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017520" y="2011680"/>
            <a:ext cx="502919" cy="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943600" y="2011680"/>
            <a:ext cx="502920" cy="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869680" y="2011680"/>
            <a:ext cx="502920" cy="0"/>
          </a:xfrm>
          <a:prstGeom prst="line">
            <a:avLst/>
          </a:prstGeom>
          <a:ln w="254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14400" y="3154680"/>
            <a:ext cx="10332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E293B"/>
                </a:solidFill>
                <a:latin typeface="Aptos"/>
              </a:defRPr>
            </a:pPr>
            <a:r>
              <a:t>• CNPJ é normalizado para facilitar a correspondência.</a:t>
            </a:r>
          </a:p>
          <a:p>
            <a:pPr>
              <a:spcAft>
                <a:spcPts val="700"/>
              </a:spcAft>
              <a:defRPr sz="1500">
                <a:solidFill>
                  <a:srgbClr val="1E293B"/>
                </a:solidFill>
                <a:latin typeface="Aptos"/>
              </a:defRPr>
            </a:pPr>
            <a:r>
              <a:t>• Tabela `institution_enrichment`: segmento e nome da instituição.</a:t>
            </a:r>
          </a:p>
          <a:p>
            <a:pPr>
              <a:spcAft>
                <a:spcPts val="700"/>
              </a:spcAft>
              <a:defRPr sz="1500">
                <a:solidFill>
                  <a:srgbClr val="1E293B"/>
                </a:solidFill>
                <a:latin typeface="Aptos"/>
              </a:defRPr>
            </a:pPr>
            <a:r>
              <a:t>• Tabela `glassdoor_enrichment`: indicadores complementares.</a:t>
            </a:r>
          </a:p>
          <a:p>
            <a:pPr>
              <a:spcAft>
                <a:spcPts val="700"/>
              </a:spcAft>
              <a:defRPr sz="1500">
                <a:solidFill>
                  <a:srgbClr val="1E293B"/>
                </a:solidFill>
                <a:latin typeface="Aptos"/>
              </a:defRPr>
            </a:pPr>
            <a:r>
              <a:t>• O resultado é associado ao micro-batch recebido pelo Spark.</a:t>
            </a:r>
          </a:p>
          <a:p>
            <a:pPr>
              <a:spcAft>
                <a:spcPts val="700"/>
              </a:spcAft>
              <a:defRPr sz="1500">
                <a:solidFill>
                  <a:srgbClr val="1E293B"/>
                </a:solidFill>
                <a:latin typeface="Aptos"/>
              </a:defRPr>
            </a:pPr>
            <a:r>
              <a:t>• Também é calculada a taxa de reclamações por 100 mil clientes.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" y="6473952"/>
            <a:ext cx="109728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4360" y="6510528"/>
            <a:ext cx="9784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4748B"/>
                </a:solidFill>
                <a:latin typeface="Aptos"/>
              </a:rPr>
              <a:t>Engenharia de Dados + Big Data • eEDB-022/2026-3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92240"/>
            <a:ext cx="777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75569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F172A"/>
                </a:solidFill>
                <a:latin typeface="Aptos"/>
              </a:rPr>
              <a:t>10. Persistência do resultado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347472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2563EB"/>
                </a:solidFill>
                <a:latin typeface="Aptos"/>
              </a:rPr>
              <a:t>SAÍDA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143000"/>
            <a:ext cx="4663440" cy="18288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1252728"/>
            <a:ext cx="4334256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600">
                <a:solidFill>
                  <a:srgbClr val="E2E8F0"/>
                </a:solidFill>
                <a:latin typeface="Consolas"/>
              </a:rPr>
              <a:t>enriched.write
    .mode("append")
    .parquet(OUTPUT)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1234440"/>
            <a:ext cx="5303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• Formato: Parquet.</a:t>
            </a:r>
          </a:p>
          <a:p>
            <a:pPr>
              <a:spcAft>
                <a:spcPts val="7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• Diretório: `output/`.</a:t>
            </a:r>
          </a:p>
          <a:p>
            <a:pPr>
              <a:spcAft>
                <a:spcPts val="7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• Modo: append, preservando os micro-batches processados.</a:t>
            </a:r>
          </a:p>
          <a:p>
            <a:pPr>
              <a:spcAft>
                <a:spcPts val="7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• Resultado pronto para consulta analítica posterior.</a:t>
            </a:r>
          </a:p>
          <a:p>
            <a:pPr>
              <a:spcAft>
                <a:spcPts val="700"/>
              </a:spcAft>
              <a:defRPr sz="1600">
                <a:solidFill>
                  <a:srgbClr val="1E293B"/>
                </a:solidFill>
                <a:latin typeface="Aptos"/>
              </a:defRPr>
            </a:pPr>
            <a:r>
              <a:t>• A persistência separa o processamento do consumo analítico.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4160520"/>
            <a:ext cx="10241280" cy="9144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914400" y="4160520"/>
            <a:ext cx="64008" cy="91440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97280" y="4279392"/>
            <a:ext cx="99212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ptos"/>
              </a:rPr>
              <a:t>Campos enriquecidos</a:t>
            </a:r>
          </a:p>
          <a:p>
            <a:r>
              <a:rPr sz="1150">
                <a:solidFill>
                  <a:srgbClr val="475569"/>
                </a:solidFill>
                <a:latin typeface="Aptos"/>
              </a:rPr>
              <a:t>segmento • nome_enquadramento • indicadores Glassdoor • taxa_reclamacoes_por_100k_clientes • batch_id • processed_ts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6473952"/>
            <a:ext cx="109728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6510528"/>
            <a:ext cx="9784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4748B"/>
                </a:solidFill>
                <a:latin typeface="Aptos"/>
              </a:rPr>
              <a:t>Engenharia de Dados + Big Data • eEDB-022/2026-3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92240"/>
            <a:ext cx="777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75569"/>
                </a:solidFill>
                <a:latin typeface="Apto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F172A"/>
                </a:solidFill>
                <a:latin typeface="Aptos"/>
              </a:rPr>
              <a:t>11. Evidência do Kafka e do resultado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347472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2563EB"/>
                </a:solidFill>
                <a:latin typeface="Aptos"/>
              </a:rPr>
              <a:t>EVIDÊNCIA</a:t>
            </a:r>
          </a:p>
        </p:txBody>
      </p:sp>
      <p:pic>
        <p:nvPicPr>
          <p:cNvPr id="6" name="Picture 5" descr="2026-09-21 15_42_29-Administrador_ Windows PowerShe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960120"/>
            <a:ext cx="10927080" cy="48006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94360" y="6473952"/>
            <a:ext cx="109728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6510528"/>
            <a:ext cx="9784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4748B"/>
                </a:solidFill>
                <a:latin typeface="Aptos"/>
              </a:rPr>
              <a:t>Engenharia de Dados + Big Data • eEDB-022/2026-3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92240"/>
            <a:ext cx="777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75569"/>
                </a:solidFill>
                <a:latin typeface="Apto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F172A"/>
                </a:solidFill>
                <a:latin typeface="Aptos"/>
              </a:rPr>
              <a:t>12. Conceitos acadêmicos demonstrados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347472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2563EB"/>
                </a:solidFill>
                <a:latin typeface="Aptos"/>
              </a:rPr>
              <a:t>FUNDAMENTAÇÃO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143000"/>
            <a:ext cx="310896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143000"/>
            <a:ext cx="64008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1261872"/>
            <a:ext cx="2788920" cy="1216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ptos"/>
              </a:rPr>
              <a:t>Desacoplamento</a:t>
            </a:r>
          </a:p>
          <a:p>
            <a:r>
              <a:rPr sz="1150">
                <a:solidFill>
                  <a:srgbClr val="475569"/>
                </a:solidFill>
                <a:latin typeface="Aptos"/>
              </a:rPr>
              <a:t>Kafka permite que produtor e consumidor evoluam e operem de forma independente.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69080" y="1143000"/>
            <a:ext cx="310896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069080" y="1143000"/>
            <a:ext cx="64008" cy="14173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251960" y="1261872"/>
            <a:ext cx="2788920" cy="1216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ptos"/>
              </a:rPr>
              <a:t>Streaming</a:t>
            </a:r>
          </a:p>
          <a:p>
            <a:r>
              <a:rPr sz="1150">
                <a:solidFill>
                  <a:srgbClr val="475569"/>
                </a:solidFill>
                <a:latin typeface="Aptos"/>
              </a:rPr>
              <a:t>Structured Streaming processa eventos continuamente por micro-batches.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1143000"/>
            <a:ext cx="310896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498079" y="1143000"/>
            <a:ext cx="64008" cy="1417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680959" y="1261872"/>
            <a:ext cx="2788920" cy="1216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ptos"/>
              </a:rPr>
              <a:t>Mensageria</a:t>
            </a:r>
          </a:p>
          <a:p>
            <a:r>
              <a:rPr sz="1150">
                <a:solidFill>
                  <a:srgbClr val="475569"/>
                </a:solidFill>
                <a:latin typeface="Aptos"/>
              </a:rPr>
              <a:t>O tópico funciona como canal persistente de eventos entre sistemas.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063240"/>
            <a:ext cx="310896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080" y="3063240"/>
            <a:ext cx="64008" cy="14173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" y="3182112"/>
            <a:ext cx="2788920" cy="1216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ptos"/>
              </a:rPr>
              <a:t>Enriquecimento</a:t>
            </a:r>
          </a:p>
          <a:p>
            <a:r>
              <a:rPr sz="1150">
                <a:solidFill>
                  <a:srgbClr val="475569"/>
                </a:solidFill>
                <a:latin typeface="Aptos"/>
              </a:rPr>
              <a:t>Dados de eventos são combinados com dados de referência via SQL.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069080" y="3063240"/>
            <a:ext cx="310896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069080" y="3063240"/>
            <a:ext cx="64008" cy="14173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251960" y="3182112"/>
            <a:ext cx="2788920" cy="1216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ptos"/>
              </a:rPr>
              <a:t>Idempotência / estado</a:t>
            </a:r>
          </a:p>
          <a:p>
            <a:r>
              <a:rPr sz="1150">
                <a:solidFill>
                  <a:srgbClr val="475569"/>
                </a:solidFill>
                <a:latin typeface="Aptos"/>
              </a:rPr>
              <a:t>Checkpoint e identificadores de evento ajudam a controlar o processamento.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98079" y="3063240"/>
            <a:ext cx="310896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498079" y="3063240"/>
            <a:ext cx="64008" cy="141732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680959" y="3182112"/>
            <a:ext cx="2788920" cy="1216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ptos"/>
              </a:rPr>
              <a:t>Formato analítico</a:t>
            </a:r>
          </a:p>
          <a:p>
            <a:r>
              <a:rPr sz="1150">
                <a:solidFill>
                  <a:srgbClr val="475569"/>
                </a:solidFill>
                <a:latin typeface="Aptos"/>
              </a:rPr>
              <a:t>Parquet organiza a saída para consumo posterior e análise.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360" y="6473952"/>
            <a:ext cx="109728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94360" y="6510528"/>
            <a:ext cx="9784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4748B"/>
                </a:solidFill>
                <a:latin typeface="Aptos"/>
              </a:rPr>
              <a:t>Engenharia de Dados + Big Data • eEDB-022/2026-3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92240"/>
            <a:ext cx="777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75569"/>
                </a:solidFill>
                <a:latin typeface="Apto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F172A"/>
                </a:solidFill>
                <a:latin typeface="Aptos"/>
              </a:rPr>
              <a:t>13. Validação e evidências para entrega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347472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2563EB"/>
                </a:solidFill>
                <a:latin typeface="Aptos"/>
              </a:rPr>
              <a:t>CHECKLIST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1430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• ☑ Infraestrutura Docker ativa</a:t>
            </a:r>
          </a:p>
          <a:p>
            <a:pPr>
              <a:spcAft>
                <a:spcPts val="7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• ☑ Tópico Kafka `reclamacoes` criado</a:t>
            </a:r>
          </a:p>
          <a:p>
            <a:pPr>
              <a:spcAft>
                <a:spcPts val="7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• ☑ 952 mensagens publicadas pelo produtor</a:t>
            </a:r>
          </a:p>
          <a:p>
            <a:pPr>
              <a:spcAft>
                <a:spcPts val="7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• ☑ PySpark conectado ao Kafka</a:t>
            </a:r>
          </a:p>
          <a:p>
            <a:pPr>
              <a:spcAft>
                <a:spcPts val="7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• ☑ Micro-batches processados</a:t>
            </a:r>
          </a:p>
          <a:p>
            <a:pPr>
              <a:spcAft>
                <a:spcPts val="7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• ☑ PostgreSQL carregado com dimensões</a:t>
            </a:r>
          </a:p>
          <a:p>
            <a:pPr>
              <a:spcAft>
                <a:spcPts val="7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• ☑ Dados enriquecidos gravados em Parquet</a:t>
            </a:r>
          </a:p>
          <a:p>
            <a:pPr>
              <a:spcAft>
                <a:spcPts val="7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• ☑ Capturas de tela preservadas como evidência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234440"/>
            <a:ext cx="4572000" cy="1828800"/>
          </a:xfrm>
          <a:prstGeom prst="roundRect">
            <a:avLst/>
          </a:prstGeom>
          <a:solidFill>
            <a:srgbClr val="F0FDF4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92240" y="1234440"/>
            <a:ext cx="64008" cy="18288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675120" y="1353312"/>
            <a:ext cx="4251960" cy="1627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ptos"/>
              </a:rPr>
              <a:t>Evidência quantitativa</a:t>
            </a:r>
          </a:p>
          <a:p>
            <a:r>
              <a:rPr sz="1150">
                <a:solidFill>
                  <a:srgbClr val="475569"/>
                </a:solidFill>
                <a:latin typeface="Aptos"/>
              </a:rPr>
              <a:t>Produtor: 952 mensagens
Consumidor: micro-batches observados no log
Saída: arquivos Parquet no diretório output/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6473952"/>
            <a:ext cx="109728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4360" y="6510528"/>
            <a:ext cx="9784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4748B"/>
                </a:solidFill>
                <a:latin typeface="Aptos"/>
              </a:rPr>
              <a:t>Engenharia de Dados + Big Data • eEDB-022/2026-3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6492240"/>
            <a:ext cx="777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75569"/>
                </a:solidFill>
                <a:latin typeface="Apto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4C51E1-4089-64F1-9813-3C059FE74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5CCEC6C-36A6-A936-5CFC-2BC5CC89D6C0}"/>
              </a:ext>
            </a:extLst>
          </p:cNvPr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ABAABC3-CFE5-88D4-D206-AB70D8FF183F}"/>
              </a:ext>
            </a:extLst>
          </p:cNvPr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6DE4232-741C-292A-5A1A-276524EA3E75}"/>
              </a:ext>
            </a:extLst>
          </p:cNvPr>
          <p:cNvSpPr txBox="1"/>
          <p:nvPr/>
        </p:nvSpPr>
        <p:spPr>
          <a:xfrm>
            <a:off x="594360" y="320040"/>
            <a:ext cx="689612" cy="4770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 dirty="0">
                <a:solidFill>
                  <a:srgbClr val="0F172A"/>
                </a:solidFill>
                <a:latin typeface="Aptos"/>
              </a:rPr>
              <a:t>1</a:t>
            </a:r>
            <a:r>
              <a:rPr lang="pt-BR" sz="2500" b="1" dirty="0">
                <a:solidFill>
                  <a:srgbClr val="0F172A"/>
                </a:solidFill>
                <a:latin typeface="Aptos"/>
              </a:rPr>
              <a:t>4</a:t>
            </a:r>
            <a:r>
              <a:rPr sz="2500" b="1" dirty="0">
                <a:solidFill>
                  <a:srgbClr val="0F172A"/>
                </a:solidFill>
                <a:latin typeface="Aptos"/>
              </a:rPr>
              <a:t>.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B3642FE-2401-9BC9-84A4-651223665ABB}"/>
              </a:ext>
            </a:extLst>
          </p:cNvPr>
          <p:cNvSpPr/>
          <p:nvPr/>
        </p:nvSpPr>
        <p:spPr>
          <a:xfrm>
            <a:off x="594360" y="6473952"/>
            <a:ext cx="109728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17734FA-4823-3BAF-0B2F-57D3C07BCF92}"/>
              </a:ext>
            </a:extLst>
          </p:cNvPr>
          <p:cNvSpPr txBox="1"/>
          <p:nvPr/>
        </p:nvSpPr>
        <p:spPr>
          <a:xfrm>
            <a:off x="594360" y="6510528"/>
            <a:ext cx="9784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4748B"/>
                </a:solidFill>
                <a:latin typeface="Aptos"/>
              </a:rPr>
              <a:t>Engenharia de Dados + Big Data • eEDB-022/2026-3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06FDD5D-8250-0AC5-61EB-C13C5DA78940}"/>
              </a:ext>
            </a:extLst>
          </p:cNvPr>
          <p:cNvSpPr txBox="1"/>
          <p:nvPr/>
        </p:nvSpPr>
        <p:spPr>
          <a:xfrm>
            <a:off x="11260665" y="6492240"/>
            <a:ext cx="306495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pt-BR" sz="900" b="1" dirty="0">
                <a:solidFill>
                  <a:srgbClr val="475569"/>
                </a:solidFill>
                <a:latin typeface="Aptos"/>
              </a:rPr>
              <a:t>15</a:t>
            </a:r>
            <a:endParaRPr sz="900" b="1" dirty="0">
              <a:solidFill>
                <a:srgbClr val="475569"/>
              </a:solidFill>
              <a:latin typeface="Aptos"/>
            </a:endParaRPr>
          </a:p>
        </p:txBody>
      </p:sp>
      <p:pic>
        <p:nvPicPr>
          <p:cNvPr id="13" name="Imagem 12">
            <a:extLst>
              <a:ext uri="{FF2B5EF4-FFF2-40B4-BE49-F238E27FC236}">
                <a16:creationId xmlns:a16="http://schemas.microsoft.com/office/drawing/2014/main" id="{DF1D8EA8-037A-994D-8458-AAF2CCE84B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2999" y="355917"/>
            <a:ext cx="10230121" cy="5742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92973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79D437-3878-3414-D8A2-562E80A94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E358080-7F80-FB6C-EF0C-1F0F868A265F}"/>
              </a:ext>
            </a:extLst>
          </p:cNvPr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AF5C2A6-1BBD-4B33-8324-2A982BA2B5C2}"/>
              </a:ext>
            </a:extLst>
          </p:cNvPr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CC4548-67E8-F388-B7AB-A0B9C4C32110}"/>
              </a:ext>
            </a:extLst>
          </p:cNvPr>
          <p:cNvSpPr txBox="1"/>
          <p:nvPr/>
        </p:nvSpPr>
        <p:spPr>
          <a:xfrm>
            <a:off x="594360" y="320040"/>
            <a:ext cx="689612" cy="4770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 dirty="0">
                <a:solidFill>
                  <a:srgbClr val="0F172A"/>
                </a:solidFill>
                <a:latin typeface="Aptos"/>
              </a:rPr>
              <a:t>1</a:t>
            </a:r>
            <a:r>
              <a:rPr lang="pt-BR" sz="2500" b="1" dirty="0">
                <a:solidFill>
                  <a:srgbClr val="0F172A"/>
                </a:solidFill>
                <a:latin typeface="Aptos"/>
              </a:rPr>
              <a:t>5</a:t>
            </a:r>
            <a:r>
              <a:rPr sz="2500" b="1" dirty="0">
                <a:solidFill>
                  <a:srgbClr val="0F172A"/>
                </a:solidFill>
                <a:latin typeface="Aptos"/>
              </a:rPr>
              <a:t>.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08E48E8-DB04-412C-A046-3E01F0EF5E47}"/>
              </a:ext>
            </a:extLst>
          </p:cNvPr>
          <p:cNvSpPr/>
          <p:nvPr/>
        </p:nvSpPr>
        <p:spPr>
          <a:xfrm>
            <a:off x="594360" y="6473952"/>
            <a:ext cx="109728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A3FCFDF-B3A2-E625-B2F4-B47FD3DB2B3D}"/>
              </a:ext>
            </a:extLst>
          </p:cNvPr>
          <p:cNvSpPr txBox="1"/>
          <p:nvPr/>
        </p:nvSpPr>
        <p:spPr>
          <a:xfrm>
            <a:off x="594360" y="6510528"/>
            <a:ext cx="9784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4748B"/>
                </a:solidFill>
                <a:latin typeface="Aptos"/>
              </a:rPr>
              <a:t>Engenharia de Dados + Big Data • eEDB-022/2026-3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163CA0-FB06-0C28-EBDB-017D0577D04B}"/>
              </a:ext>
            </a:extLst>
          </p:cNvPr>
          <p:cNvSpPr txBox="1"/>
          <p:nvPr/>
        </p:nvSpPr>
        <p:spPr>
          <a:xfrm>
            <a:off x="11260665" y="6492240"/>
            <a:ext cx="306495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pt-BR" sz="900" b="1" dirty="0">
                <a:solidFill>
                  <a:srgbClr val="475569"/>
                </a:solidFill>
                <a:latin typeface="Aptos"/>
              </a:rPr>
              <a:t>16</a:t>
            </a:r>
            <a:endParaRPr sz="900" b="1" dirty="0">
              <a:solidFill>
                <a:srgbClr val="475569"/>
              </a:solidFill>
              <a:latin typeface="Aptos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9B121432-FC92-A67C-0408-79C3A711B4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0989" y="350876"/>
            <a:ext cx="10541542" cy="5918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55232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2268570" cy="4770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 dirty="0">
                <a:solidFill>
                  <a:srgbClr val="0F172A"/>
                </a:solidFill>
                <a:latin typeface="Aptos"/>
              </a:rPr>
              <a:t>1</a:t>
            </a:r>
            <a:r>
              <a:rPr lang="pt-BR" sz="2500" b="1" dirty="0">
                <a:solidFill>
                  <a:srgbClr val="0F172A"/>
                </a:solidFill>
                <a:latin typeface="Aptos"/>
              </a:rPr>
              <a:t>6</a:t>
            </a:r>
            <a:r>
              <a:rPr sz="2500" b="1" dirty="0">
                <a:solidFill>
                  <a:srgbClr val="0F172A"/>
                </a:solidFill>
                <a:latin typeface="Aptos"/>
              </a:rPr>
              <a:t>. </a:t>
            </a:r>
            <a:r>
              <a:rPr sz="2500" b="1" dirty="0" err="1">
                <a:solidFill>
                  <a:srgbClr val="0F172A"/>
                </a:solidFill>
                <a:latin typeface="Aptos"/>
              </a:rPr>
              <a:t>Conclusão</a:t>
            </a:r>
            <a:endParaRPr sz="2500" b="1" dirty="0">
              <a:solidFill>
                <a:srgbClr val="0F172A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875520" y="347472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2563EB"/>
                </a:solidFill>
                <a:latin typeface="Aptos"/>
              </a:rPr>
              <a:t>ENCERRAMENTO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234440"/>
            <a:ext cx="10515600" cy="1417320"/>
          </a:xfrm>
          <a:prstGeom prst="round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1234440"/>
            <a:ext cx="64008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1353312"/>
            <a:ext cx="10195560" cy="1216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72A"/>
                </a:solidFill>
                <a:latin typeface="Aptos"/>
              </a:rPr>
              <a:t>O que foi entregue</a:t>
            </a:r>
          </a:p>
          <a:p>
            <a:r>
              <a:rPr sz="1150">
                <a:solidFill>
                  <a:srgbClr val="475569"/>
                </a:solidFill>
                <a:latin typeface="Aptos"/>
              </a:rPr>
              <a:t>Um pipeline de ingestão e processamento streaming totalmente local, reproduzível em Docker, com Kafka como mensageria, PySpark como motor de processamento, PostgreSQL para enriquecimento e Parquet como saída.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063240"/>
            <a:ext cx="9966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• O produtor converteu os registros dos arquivos em eventos Kafka.</a:t>
            </a:r>
          </a:p>
          <a:p>
            <a:pPr>
              <a:spcAft>
                <a:spcPts val="7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• O consumidor recebeu os eventos em micro-batches.</a:t>
            </a:r>
          </a:p>
          <a:p>
            <a:pPr>
              <a:spcAft>
                <a:spcPts val="7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• O PostgreSQL forneceu informações complementares.</a:t>
            </a:r>
          </a:p>
          <a:p>
            <a:pPr>
              <a:spcAft>
                <a:spcPts val="7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• O Spark gerou dados tratados e enriquecidos.</a:t>
            </a:r>
          </a:p>
          <a:p>
            <a:pPr>
              <a:spcAft>
                <a:spcPts val="7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• O resultado foi persistido localmente em formato analítico.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6473952"/>
            <a:ext cx="109728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6510528"/>
            <a:ext cx="9784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4748B"/>
                </a:solidFill>
                <a:latin typeface="Aptos"/>
              </a:rPr>
              <a:t>Engenharia de Dados + Big Data • eEDB-022/2026-3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60665" y="6492240"/>
            <a:ext cx="306495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pt-BR" sz="900" b="1" dirty="0">
                <a:solidFill>
                  <a:srgbClr val="475569"/>
                </a:solidFill>
                <a:latin typeface="Aptos"/>
              </a:rPr>
              <a:t>17</a:t>
            </a:r>
            <a:endParaRPr sz="900" b="1" dirty="0">
              <a:solidFill>
                <a:srgbClr val="475569"/>
              </a:solidFill>
              <a:latin typeface="Apto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1173</TotalTime>
  <Words>1317</Words>
  <Application>Microsoft Office PowerPoint</Application>
  <PresentationFormat>Widescreen</PresentationFormat>
  <Paragraphs>179</Paragraphs>
  <Slides>17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17</vt:i4>
      </vt:variant>
    </vt:vector>
  </HeadingPairs>
  <TitlesOfParts>
    <vt:vector size="22" baseType="lpstr">
      <vt:lpstr>Aptos</vt:lpstr>
      <vt:lpstr>Arial</vt:lpstr>
      <vt:lpstr>Calibri</vt:lpstr>
      <vt:lpstr>Consolas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Edvaldo da Cruz Junior</dc:creator>
  <cp:keywords/>
  <dc:description>generated using python-pptx</dc:description>
  <cp:lastModifiedBy>Edvaldo da Cruz Junior</cp:lastModifiedBy>
  <cp:revision>5</cp:revision>
  <dcterms:created xsi:type="dcterms:W3CDTF">2013-01-27T09:14:16Z</dcterms:created>
  <dcterms:modified xsi:type="dcterms:W3CDTF">2026-09-22T14:53:21Z</dcterms:modified>
  <cp:category/>
</cp:coreProperties>
</file>