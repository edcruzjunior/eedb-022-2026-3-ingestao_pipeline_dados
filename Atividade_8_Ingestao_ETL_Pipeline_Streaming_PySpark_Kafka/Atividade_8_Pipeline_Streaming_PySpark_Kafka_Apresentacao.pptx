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dCruzJunior/eEDB-022-2026-3-Ingestao_Pipeline_Dados/tree/main/Atividade_8_Ingestao_ETL_Pipeline_Streaming_PySpark_Kafka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3977639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63840" y="0"/>
            <a:ext cx="3977639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06B6D4"/>
                </a:solidFill>
                <a:latin typeface="Aptos"/>
              </a:rPr>
              <a:t>Atividade 8</a:t>
            </a:r>
          </a:p>
          <a:p>
            <a:r>
              <a:rPr sz="3500" b="1">
                <a:solidFill>
                  <a:srgbClr val="FFFFFF"/>
                </a:solidFill>
                <a:latin typeface="Aptos"/>
              </a:rPr>
              <a:t>Pipeline Streaming com PySpark e Kafka</a:t>
            </a:r>
          </a:p>
          <a:p>
            <a:r>
              <a:rPr sz="1800">
                <a:solidFill>
                  <a:srgbClr val="CBD5E1"/>
                </a:solidFill>
                <a:latin typeface="Aptos"/>
              </a:rPr>
              <a:t>Ingestão • Streaming • Enriquecimento SQL • Persistência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172968"/>
            <a:ext cx="170078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ARQUIVOS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CSV / TSV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06324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3172968"/>
            <a:ext cx="170078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Aptos"/>
              </a:rPr>
              <a:t>PYTHON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Producer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06324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8" y="3172968"/>
            <a:ext cx="170078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KAFKA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Fila / tópico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06324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6368" y="3172968"/>
            <a:ext cx="170078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PYSPARK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Structured Streaming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3063240"/>
            <a:ext cx="1920240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0928" y="3172968"/>
            <a:ext cx="170078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ptos"/>
              </a:rPr>
              <a:t>SQL + PARQUET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Enriquecer / gravar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566160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7760" y="3566160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0" y="3566160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3566160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074921"/>
            <a:ext cx="103784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>
                <a:solidFill>
                  <a:srgbClr val="FFFFFF"/>
                </a:solidFill>
                <a:latin typeface="Aptos"/>
              </a:rPr>
              <a:t>Grupo 6</a:t>
            </a:r>
            <a:endParaRPr sz="1700" b="1" dirty="0">
              <a:solidFill>
                <a:srgbClr val="FFFFFF"/>
              </a:solidFill>
              <a:latin typeface="Aptos"/>
            </a:endParaRPr>
          </a:p>
          <a:p>
            <a:r>
              <a:rPr sz="1200" dirty="0" err="1">
                <a:solidFill>
                  <a:srgbClr val="CBD5E1"/>
                </a:solidFill>
                <a:latin typeface="Aptos"/>
              </a:rPr>
              <a:t>Engenharia</a:t>
            </a:r>
            <a:r>
              <a:rPr sz="1200" dirty="0">
                <a:solidFill>
                  <a:srgbClr val="CBD5E1"/>
                </a:solidFill>
                <a:latin typeface="Aptos"/>
              </a:rPr>
              <a:t> de Dados + Big Data • Escola Politécnica da USP</a:t>
            </a:r>
            <a:br>
              <a:rPr lang="pt-BR" sz="1200" dirty="0">
                <a:solidFill>
                  <a:srgbClr val="CBD5E1"/>
                </a:solidFill>
                <a:latin typeface="Aptos"/>
              </a:rPr>
            </a:br>
            <a:r>
              <a:rPr lang="pt-BR" sz="1200" dirty="0">
                <a:solidFill>
                  <a:schemeClr val="bg1"/>
                </a:solidFill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https://github.com/EdCruzJunior/eEDB-022-2026-3-Ingestao_Pipeline_Dados/tree/main/Atividade_8_Ingestao_ETL_Pipeline_Streaming_PySpark_Kafka</a:t>
            </a:r>
            <a:endParaRPr sz="120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1. Objetivo da atividade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CONTEXTO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9496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16152"/>
            <a:ext cx="5074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Requisito central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Construir um pipeline de streaming local em Docker no qual o produtor lê arquivos do disco, o Kafka atua como camada de mensageria e o consumidor PySpark processa micro-batches.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Produtor: script Python responsável pela leitura dos arquivos anexados.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Mensageria: Apache Kafka disponibilizado localmente via Docker.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Consumidor: job PySpark usando Structured Streaming.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Enriquecimento: consulta ao PostgreSQL durante o processamento do micro-batch.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Saída: dados tratados e enriquecidos gravados no disco local em Parquet.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2. Arquitetura implementada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ARQUITETURA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Arquivos locais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CSV / TSV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32888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6B6D4"/>
                </a:solidFill>
                <a:latin typeface="Aptos"/>
              </a:rPr>
              <a:t>Python Producer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CSV →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Apache Kafka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tópico
reclamacoes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PySpark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Structured
Streaming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7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ptos"/>
              </a:rPr>
              <a:t>PostgreSQL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enriquecimento
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2148840"/>
            <a:ext cx="1600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13848" y="2258568"/>
            <a:ext cx="1380744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475569"/>
                </a:solidFill>
                <a:latin typeface="Aptos"/>
              </a:rPr>
              <a:t>Parquet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saída local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2761488"/>
            <a:ext cx="27431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23360" y="2761488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2761488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2761488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84080" y="2761488"/>
            <a:ext cx="2743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4069080"/>
            <a:ext cx="102412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069080"/>
            <a:ext cx="64008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187952"/>
            <a:ext cx="9921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Ponto técnico importante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O Kafka não processa a regra de negócio. Ele transporta e desacopla os eventos. O PySpark é responsável pelo processamento e o PostgreSQL fornece dados de referência para o enriquecimento.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3. Organização do projeto 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IMPLEMENTAÇÃO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4983480" cy="4297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161288"/>
            <a:ext cx="4654296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onsolas"/>
              </a:rPr>
              <a:t>Atividade_8_Ingestao_ETL_Pipeline_Streaming_PySpark_Kafka/
├── data/
├── producer/
│   ├── producer.py
│   └── requirements.txt
├── consumer/
│   └── consumer.py
├── db/
│   └── init_db.py
├── output/
├── checkpoint/
├── docker-compose.yml
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23444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Dados trimestrais de 2021 e 2022 utilizados como eventos de entrada.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EnquadramentoInicia_v2: dimensão para complementar as instituições.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Glassdoor consolidado: dimensão complementar de indicadores.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 pasta output recebe o resultado final em Parquet.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 pasta checkpoint mantém o estado do Structured Streaming.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4. Subida da infraestrutura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DOCKER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484632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52728"/>
            <a:ext cx="4517136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>
                <a:solidFill>
                  <a:srgbClr val="E2E8F0"/>
                </a:solidFill>
                <a:latin typeface="Consolas"/>
              </a:rPr>
              <a:t>docker compose up -d kafka postgres
docker compose run --rm kafka-init
docker compose run --rm db-init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88720"/>
            <a:ext cx="5212080" cy="86868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307592"/>
            <a:ext cx="48920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Kafka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Broker local + tópico `reclamacoes` com 3 partições.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40280"/>
            <a:ext cx="521208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2240280"/>
            <a:ext cx="6400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359152"/>
            <a:ext cx="4892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PostgreSQL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Banco local usado como fonte de dados de referência para o enriquecimento.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337560"/>
            <a:ext cx="521208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0" y="333756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3456432"/>
            <a:ext cx="48920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Docker Compose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Orquestra os serviços e cria uma rede interna na qual o Spark pode acessar `kafka:9092` e `postgres:5432`.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5. Produtor Python → Kafka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INGESTÃO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420624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52728"/>
            <a:ext cx="3877056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>
                <a:solidFill>
                  <a:srgbClr val="E2E8F0"/>
                </a:solidFill>
                <a:latin typeface="Consolas"/>
              </a:rPr>
              <a:t>producer.send(
    "reclamacoes",
    value=event
)
producer.flush()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1887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Percorre os CSVs disponíveis em /data.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Cada linha é transformada em um evento JSON.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Inclui metadados: event_id, arquivo, linha e timestamp.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Publica cada evento no tópico `reclamacoes`.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Ao final, realiza flush para garantir o envio.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43400"/>
            <a:ext cx="10241280" cy="8229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343400"/>
            <a:ext cx="64008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462272"/>
            <a:ext cx="9921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Execução observada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O produtor finalizou com **952 mensagens enviadas**.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6. Evidência da execução do produtor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EVIDÊNCIA</a:t>
            </a:r>
          </a:p>
        </p:txBody>
      </p:sp>
      <p:pic>
        <p:nvPicPr>
          <p:cNvPr id="6" name="Picture 5" descr="2026-09-21 16_06_13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927080" cy="4846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7. Consumidor PySpark Structured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PROCESSAMENTO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66928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161288"/>
            <a:ext cx="5340096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Consolas"/>
              </a:rPr>
              <a:t>raw = (
    spark.readStream
      .format("kafka")
      .option("kafka.bootstrap.servers", "kafka:9092")
      .option("subscribe", "reclamacoes")
      .option("startingOffsets", "earliest")
      .load()
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2344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Spark lê continuamente o tópico Kafka.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 mensagem JSON é desserializada conforme um schema.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O processamento usa `foreachBatch`.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 janela é controlada por micro-batches de aproximadamente 10 segundos.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O checkpoint registra o estado do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97680"/>
            <a:ext cx="10378440" cy="8686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4297680"/>
            <a:ext cx="64008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416552"/>
            <a:ext cx="10058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Modelo de execução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Não é necessário esperar todo o arquivo terminar para processar. O consumidor trabalha continuamente com os eventos que chegam ao Kafka.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8. Processamento por micro-batch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EVIDÊNCIA</a:t>
            </a:r>
          </a:p>
        </p:txBody>
      </p:sp>
      <p:pic>
        <p:nvPicPr>
          <p:cNvPr id="6" name="Picture 5" descr="2026-09-21 16_06_01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92708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4983480"/>
            <a:ext cx="10378440" cy="5943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983480"/>
            <a:ext cx="64008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102352"/>
            <a:ext cx="10058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Resultado observado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O log apresenta `batch_id=9 registros=98` e `batch_id=10 registros=98`, demonstrando a execução incremental do consumidor.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9. Enriquecimento com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INTEGRAÇÃO 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28600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527048"/>
            <a:ext cx="206654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BATCH SPARK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CNPJ / nome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228600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1527048"/>
            <a:ext cx="206654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ptos"/>
              </a:rPr>
              <a:t>POSTGRESQL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dimensões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17320"/>
            <a:ext cx="228600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3408" y="1527048"/>
            <a:ext cx="206654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JOIN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atributos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417320"/>
            <a:ext cx="182880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9488" y="1527048"/>
            <a:ext cx="160934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475569"/>
                </a:solidFill>
                <a:latin typeface="Aptos"/>
              </a:rPr>
              <a:t>PARQUET</a:t>
            </a:r>
          </a:p>
          <a:p>
            <a:pPr algn="ctr"/>
            <a:r>
              <a:rPr sz="950">
                <a:solidFill>
                  <a:srgbClr val="475569"/>
                </a:solidFill>
                <a:latin typeface="Aptos"/>
              </a:rPr>
              <a:t>resultado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011680"/>
            <a:ext cx="50291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2011680"/>
            <a:ext cx="5029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9680" y="2011680"/>
            <a:ext cx="5029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154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CNPJ é normalizado para facilitar a correspondência.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Tabela `institution_enrichment`: segmento e nome da instituição.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Tabela `glassdoor_enrichment`: indicadores complementares.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O resultado é associado ao micro-batch recebido pelo Spark.</a:t>
            </a:r>
          </a:p>
          <a:p>
            <a:pPr>
              <a:spcAft>
                <a:spcPts val="7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Também é calculada a taxa de reclamações por 100 mil clientes.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10. Persistência do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SAÍDA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4663440" cy="1828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52728"/>
            <a:ext cx="4334256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Consolas"/>
              </a:rPr>
              <a:t>enriched.write
    .mode("append")
    .parquet(OUTPUT)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Formato: Parquet.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Diretório: `output/`.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Modo: append, preservando os micro-batches processados.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Resultado pronto para consulta analítica posterior.</a:t>
            </a:r>
          </a:p>
          <a:p>
            <a:pPr>
              <a:spcAft>
                <a:spcPts val="7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 persistência separa o processamento do consumo analítico.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60520"/>
            <a:ext cx="102412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64008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79392"/>
            <a:ext cx="9921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Campos enriquecidos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segmento • nome_enquadramento • indicadores Glassdoor • taxa_reclamacoes_por_100k_clientes • batch_id • processed_ts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11. Evidência do Kafka e do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EVIDÊNCIA</a:t>
            </a:r>
          </a:p>
        </p:txBody>
      </p:sp>
      <p:pic>
        <p:nvPicPr>
          <p:cNvPr id="6" name="Picture 5" descr="2026-09-21 15_42_29-Administrador_ Windows Power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927080" cy="4800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12. Conceitos acadêmicos demonstrados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FUNDAMENTAÇÃO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26187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Desacoplamento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Kafka permite que produtor e consumidor evoluam e operem de forma independente.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1430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14300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26187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Streaming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Structured Streaming processa eventos continuamente por micro-batches.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14300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114300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9" y="126187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Mensageria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O tópico funciona como canal persistente de eventos entre sistemas.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06324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8211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Enriquecimento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Dados de eventos são combinados com dados de referência via 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306324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69080" y="3063240"/>
            <a:ext cx="6400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60" y="318211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Idempotência / estado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Checkpoint e identificadores de evento ajudam a controlar o processamento.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06324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3063240"/>
            <a:ext cx="64008" cy="1417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59" y="3182112"/>
            <a:ext cx="278892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Formato analítico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Parquet organiza a saída para consumo posterior e análise.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Aptos"/>
              </a:rPr>
              <a:t>13. Validação e evidências para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Infraestrutura Docker ativa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Tópico Kafka `reclamacoes` criado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952 mensagens publicadas pelo produtor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PySpark conectado ao Kafka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Micro-batches processados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PostgreSQL carregado com dimensões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Dados enriquecidos gravados em Parquet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☑ Capturas de tela preservadas como evidência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4572000" cy="18288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92240" y="123444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353312"/>
            <a:ext cx="42519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Evidência quantitativa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Produtor: 952 mensagens
Consumidor: micro-batches observados no log
Saída: arquivos Parquet no diretório output/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9224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51E1-4089-64F1-9813-3C059FE74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CCEC6C-36A6-A936-5CFC-2BC5CC89D6C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BAABC3-CFE5-88D4-D206-AB70D8FF183F}"/>
              </a:ext>
            </a:extLst>
          </p:cNvPr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E4232-741C-292A-5A1A-276524EA3E75}"/>
              </a:ext>
            </a:extLst>
          </p:cNvPr>
          <p:cNvSpPr txBox="1"/>
          <p:nvPr/>
        </p:nvSpPr>
        <p:spPr>
          <a:xfrm>
            <a:off x="594360" y="320040"/>
            <a:ext cx="68961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0F172A"/>
                </a:solidFill>
                <a:latin typeface="Aptos"/>
              </a:rPr>
              <a:t>1</a:t>
            </a:r>
            <a:r>
              <a:rPr lang="pt-BR" sz="2500" b="1" dirty="0">
                <a:solidFill>
                  <a:srgbClr val="0F172A"/>
                </a:solidFill>
                <a:latin typeface="Aptos"/>
              </a:rPr>
              <a:t>4</a:t>
            </a:r>
            <a:r>
              <a:rPr sz="2500" b="1" dirty="0">
                <a:solidFill>
                  <a:srgbClr val="0F172A"/>
                </a:solidFill>
                <a:latin typeface="Aptos"/>
              </a:rPr>
              <a:t>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3642FE-2401-9BC9-84A4-651223665ABB}"/>
              </a:ext>
            </a:extLst>
          </p:cNvPr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734FA-4823-3BAF-0B2F-57D3C07BCF92}"/>
              </a:ext>
            </a:extLst>
          </p:cNvPr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FDD5D-8250-0AC5-61EB-C13C5DA78940}"/>
              </a:ext>
            </a:extLst>
          </p:cNvPr>
          <p:cNvSpPr txBox="1"/>
          <p:nvPr/>
        </p:nvSpPr>
        <p:spPr>
          <a:xfrm>
            <a:off x="11260665" y="6492240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rgbClr val="475569"/>
                </a:solidFill>
                <a:latin typeface="Aptos"/>
              </a:rPr>
              <a:t>15</a:t>
            </a:r>
            <a:endParaRPr sz="900" b="1" dirty="0">
              <a:solidFill>
                <a:srgbClr val="475569"/>
              </a:solidFill>
              <a:latin typeface="Apto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F1D8EA8-037A-994D-8458-AAF2CCE8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355917"/>
            <a:ext cx="10230121" cy="57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9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226857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0F172A"/>
                </a:solidFill>
                <a:latin typeface="Aptos"/>
              </a:rPr>
              <a:t>1</a:t>
            </a:r>
            <a:r>
              <a:rPr lang="pt-BR" sz="2500" b="1" dirty="0">
                <a:solidFill>
                  <a:srgbClr val="0F172A"/>
                </a:solidFill>
                <a:latin typeface="Aptos"/>
              </a:rPr>
              <a:t>5</a:t>
            </a:r>
            <a:r>
              <a:rPr sz="2500" b="1" dirty="0">
                <a:solidFill>
                  <a:srgbClr val="0F172A"/>
                </a:solidFill>
                <a:latin typeface="Aptos"/>
              </a:rPr>
              <a:t>. </a:t>
            </a:r>
            <a:r>
              <a:rPr sz="2500" b="1" dirty="0" err="1">
                <a:solidFill>
                  <a:srgbClr val="0F172A"/>
                </a:solidFill>
                <a:latin typeface="Aptos"/>
              </a:rPr>
              <a:t>Conclusão</a:t>
            </a:r>
            <a:endParaRPr sz="25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ENCERRAMENTO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353312"/>
            <a:ext cx="101955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Aptos"/>
              </a:rPr>
              <a:t>O que foi entregue</a:t>
            </a:r>
          </a:p>
          <a:p>
            <a:r>
              <a:rPr sz="1150">
                <a:solidFill>
                  <a:srgbClr val="475569"/>
                </a:solidFill>
                <a:latin typeface="Aptos"/>
              </a:rPr>
              <a:t>Um pipeline de ingestão e processamento streaming totalmente local, reproduzível em Docker, com Kafka como mensageria, PySpark como motor de processamento, PostgreSQL para enriquecimento e Parquet como saída.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 produtor converteu os registros dos arquivos em eventos Kafka.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 consumidor recebeu os eventos em micro-batches.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 PostgreSQL forneceu informações complementares.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 Spark gerou dados tratados e enriquecidos.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 resultado foi persistido localmente em formato analítico.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Engenharia de Dados + Big Data • eEDB-022/2026-3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60665" y="6492240"/>
            <a:ext cx="3064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rgbClr val="475569"/>
                </a:solidFill>
                <a:latin typeface="Aptos"/>
              </a:rPr>
              <a:t>16</a:t>
            </a:r>
            <a:endParaRPr sz="900" b="1" dirty="0">
              <a:solidFill>
                <a:srgbClr val="47556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1305</Words>
  <Application>Microsoft Office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Edvaldo da Cruz Junior</dc:creator>
  <cp:keywords/>
  <dc:description>generated using python-pptx</dc:description>
  <cp:lastModifiedBy>Edvaldo da Cruz Junior</cp:lastModifiedBy>
  <cp:revision>4</cp:revision>
  <dcterms:created xsi:type="dcterms:W3CDTF">2013-01-27T09:14:16Z</dcterms:created>
  <dcterms:modified xsi:type="dcterms:W3CDTF">2026-09-22T13:16:55Z</dcterms:modified>
  <cp:category/>
</cp:coreProperties>
</file>